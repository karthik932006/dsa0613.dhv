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5.jpg" ContentType="image/jpeg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91" r:id="rId2"/>
    <p:sldId id="301" r:id="rId3"/>
    <p:sldId id="273" r:id="rId4"/>
    <p:sldId id="303" r:id="rId5"/>
    <p:sldId id="292" r:id="rId6"/>
    <p:sldId id="304" r:id="rId7"/>
    <p:sldId id="313" r:id="rId8"/>
    <p:sldId id="305" r:id="rId9"/>
    <p:sldId id="299" r:id="rId10"/>
    <p:sldId id="308" r:id="rId11"/>
    <p:sldId id="307" r:id="rId12"/>
    <p:sldId id="306" r:id="rId13"/>
    <p:sldId id="309" r:id="rId14"/>
    <p:sldId id="310" r:id="rId15"/>
    <p:sldId id="311" r:id="rId16"/>
    <p:sldId id="312" r:id="rId17"/>
    <p:sldId id="29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AE3B46-98C3-4B72-9733-8EBC47442289}" v="545" dt="2026-02-03T04:33:43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4660"/>
  </p:normalViewPr>
  <p:slideViewPr>
    <p:cSldViewPr snapToGrid="0">
      <p:cViewPr varScale="1">
        <p:scale>
          <a:sx n="73" d="100"/>
          <a:sy n="73" d="100"/>
        </p:scale>
        <p:origin x="58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klingutla123@outlook.com" userId="071bd4d2405bc793" providerId="LiveId" clId="{A0B91CD3-9F57-41E4-8915-16EEFCD6B1A2}"/>
    <pc:docChg chg="undo custSel modSld">
      <pc:chgData name="karthiklingutla123@outlook.com" userId="071bd4d2405bc793" providerId="LiveId" clId="{A0B91CD3-9F57-41E4-8915-16EEFCD6B1A2}" dt="2026-02-03T04:33:58.832" v="622" actId="207"/>
      <pc:docMkLst>
        <pc:docMk/>
      </pc:docMkLst>
      <pc:sldChg chg="addSp delSp modSp mod">
        <pc:chgData name="karthiklingutla123@outlook.com" userId="071bd4d2405bc793" providerId="LiveId" clId="{A0B91CD3-9F57-41E4-8915-16EEFCD6B1A2}" dt="2026-02-02T10:27:07.868" v="36" actId="12"/>
        <pc:sldMkLst>
          <pc:docMk/>
          <pc:sldMk cId="2561448190" sldId="273"/>
        </pc:sldMkLst>
        <pc:spChg chg="del mod">
          <ac:chgData name="karthiklingutla123@outlook.com" userId="071bd4d2405bc793" providerId="LiveId" clId="{A0B91CD3-9F57-41E4-8915-16EEFCD6B1A2}" dt="2026-02-02T10:24:19.767" v="13" actId="478"/>
          <ac:spMkLst>
            <pc:docMk/>
            <pc:sldMk cId="2561448190" sldId="273"/>
            <ac:spMk id="3" creationId="{02D81F3D-6B10-8B6E-0540-40E2DAE5B054}"/>
          </ac:spMkLst>
        </pc:spChg>
        <pc:spChg chg="add mod">
          <ac:chgData name="karthiklingutla123@outlook.com" userId="071bd4d2405bc793" providerId="LiveId" clId="{A0B91CD3-9F57-41E4-8915-16EEFCD6B1A2}" dt="2026-02-02T10:27:07.868" v="36" actId="12"/>
          <ac:spMkLst>
            <pc:docMk/>
            <pc:sldMk cId="2561448190" sldId="273"/>
            <ac:spMk id="6" creationId="{AF0461D0-F76D-53E9-F949-283257EA1B49}"/>
          </ac:spMkLst>
        </pc:spChg>
      </pc:sldChg>
      <pc:sldChg chg="modSp">
        <pc:chgData name="karthiklingutla123@outlook.com" userId="071bd4d2405bc793" providerId="LiveId" clId="{A0B91CD3-9F57-41E4-8915-16EEFCD6B1A2}" dt="2026-02-02T10:31:17.973" v="39" actId="2711"/>
        <pc:sldMkLst>
          <pc:docMk/>
          <pc:sldMk cId="1993786866" sldId="291"/>
        </pc:sldMkLst>
        <pc:spChg chg="mod">
          <ac:chgData name="karthiklingutla123@outlook.com" userId="071bd4d2405bc793" providerId="LiveId" clId="{A0B91CD3-9F57-41E4-8915-16EEFCD6B1A2}" dt="2026-02-02T10:31:17.973" v="39" actId="2711"/>
          <ac:spMkLst>
            <pc:docMk/>
            <pc:sldMk cId="1993786866" sldId="291"/>
            <ac:spMk id="3" creationId="{B4C2FDA0-6F14-95CC-C28D-AFB512F96C1C}"/>
          </ac:spMkLst>
        </pc:spChg>
        <pc:spChg chg="mod">
          <ac:chgData name="karthiklingutla123@outlook.com" userId="071bd4d2405bc793" providerId="LiveId" clId="{A0B91CD3-9F57-41E4-8915-16EEFCD6B1A2}" dt="2026-02-02T10:31:17.973" v="39" actId="2711"/>
          <ac:spMkLst>
            <pc:docMk/>
            <pc:sldMk cId="1993786866" sldId="291"/>
            <ac:spMk id="5" creationId="{BB3B50E4-CEB7-3CF8-588F-B289EDB0A5C1}"/>
          </ac:spMkLst>
        </pc:spChg>
        <pc:spChg chg="mod">
          <ac:chgData name="karthiklingutla123@outlook.com" userId="071bd4d2405bc793" providerId="LiveId" clId="{A0B91CD3-9F57-41E4-8915-16EEFCD6B1A2}" dt="2026-02-02T10:31:17.973" v="39" actId="2711"/>
          <ac:spMkLst>
            <pc:docMk/>
            <pc:sldMk cId="1993786866" sldId="291"/>
            <ac:spMk id="6" creationId="{0748CF37-E31A-6EEE-BC99-20F5D425A24A}"/>
          </ac:spMkLst>
        </pc:spChg>
        <pc:spChg chg="mod">
          <ac:chgData name="karthiklingutla123@outlook.com" userId="071bd4d2405bc793" providerId="LiveId" clId="{A0B91CD3-9F57-41E4-8915-16EEFCD6B1A2}" dt="2026-02-02T10:31:17.973" v="39" actId="2711"/>
          <ac:spMkLst>
            <pc:docMk/>
            <pc:sldMk cId="1993786866" sldId="291"/>
            <ac:spMk id="7" creationId="{EF253227-A697-F3C3-46D2-424403263327}"/>
          </ac:spMkLst>
        </pc:spChg>
        <pc:picChg chg="mod">
          <ac:chgData name="karthiklingutla123@outlook.com" userId="071bd4d2405bc793" providerId="LiveId" clId="{A0B91CD3-9F57-41E4-8915-16EEFCD6B1A2}" dt="2026-02-02T10:31:17.973" v="39" actId="2711"/>
          <ac:picMkLst>
            <pc:docMk/>
            <pc:sldMk cId="1993786866" sldId="291"/>
            <ac:picMk id="2050" creationId="{EBB794B4-8F64-A737-C2B5-70C223BD1345}"/>
          </ac:picMkLst>
        </pc:picChg>
      </pc:sldChg>
      <pc:sldChg chg="modSp mod">
        <pc:chgData name="karthiklingutla123@outlook.com" userId="071bd4d2405bc793" providerId="LiveId" clId="{A0B91CD3-9F57-41E4-8915-16EEFCD6B1A2}" dt="2026-02-03T04:33:58.832" v="622" actId="207"/>
        <pc:sldMkLst>
          <pc:docMk/>
          <pc:sldMk cId="3061015147" sldId="292"/>
        </pc:sldMkLst>
        <pc:spChg chg="mod">
          <ac:chgData name="karthiklingutla123@outlook.com" userId="071bd4d2405bc793" providerId="LiveId" clId="{A0B91CD3-9F57-41E4-8915-16EEFCD6B1A2}" dt="2026-02-03T04:33:58.832" v="622" actId="207"/>
          <ac:spMkLst>
            <pc:docMk/>
            <pc:sldMk cId="3061015147" sldId="292"/>
            <ac:spMk id="7" creationId="{32BCF78A-B25D-C819-2F56-B04B8CC6281A}"/>
          </ac:spMkLst>
        </pc:spChg>
      </pc:sldChg>
      <pc:sldChg chg="addSp modSp mod">
        <pc:chgData name="karthiklingutla123@outlook.com" userId="071bd4d2405bc793" providerId="LiveId" clId="{A0B91CD3-9F57-41E4-8915-16EEFCD6B1A2}" dt="2026-02-03T03:19:55.185" v="82" actId="1035"/>
        <pc:sldMkLst>
          <pc:docMk/>
          <pc:sldMk cId="1498429202" sldId="299"/>
        </pc:sldMkLst>
        <pc:spChg chg="mod">
          <ac:chgData name="karthiklingutla123@outlook.com" userId="071bd4d2405bc793" providerId="LiveId" clId="{A0B91CD3-9F57-41E4-8915-16EEFCD6B1A2}" dt="2026-02-03T03:19:55.185" v="82" actId="1035"/>
          <ac:spMkLst>
            <pc:docMk/>
            <pc:sldMk cId="1498429202" sldId="299"/>
            <ac:spMk id="2" creationId="{E4EDAACD-22D5-3AC3-2946-BF244C80F989}"/>
          </ac:spMkLst>
        </pc:spChg>
        <pc:spChg chg="add mod">
          <ac:chgData name="karthiklingutla123@outlook.com" userId="071bd4d2405bc793" providerId="LiveId" clId="{A0B91CD3-9F57-41E4-8915-16EEFCD6B1A2}" dt="2026-02-03T03:19:51.495" v="81" actId="14100"/>
          <ac:spMkLst>
            <pc:docMk/>
            <pc:sldMk cId="1498429202" sldId="299"/>
            <ac:spMk id="3" creationId="{57606170-7E57-F138-B02A-E1A2E3FA2235}"/>
          </ac:spMkLst>
        </pc:spChg>
      </pc:sldChg>
      <pc:sldChg chg="modSp mod">
        <pc:chgData name="karthiklingutla123@outlook.com" userId="071bd4d2405bc793" providerId="LiveId" clId="{A0B91CD3-9F57-41E4-8915-16EEFCD6B1A2}" dt="2026-02-03T03:50:03.602" v="101" actId="12"/>
        <pc:sldMkLst>
          <pc:docMk/>
          <pc:sldMk cId="1061651830" sldId="303"/>
        </pc:sldMkLst>
        <pc:spChg chg="mod">
          <ac:chgData name="karthiklingutla123@outlook.com" userId="071bd4d2405bc793" providerId="LiveId" clId="{A0B91CD3-9F57-41E4-8915-16EEFCD6B1A2}" dt="2026-02-03T03:50:03.602" v="101" actId="12"/>
          <ac:spMkLst>
            <pc:docMk/>
            <pc:sldMk cId="1061651830" sldId="303"/>
            <ac:spMk id="10" creationId="{E44CF617-78B6-F4BE-2823-0834411ED202}"/>
          </ac:spMkLst>
        </pc:spChg>
      </pc:sldChg>
      <pc:sldChg chg="modSp mod">
        <pc:chgData name="karthiklingutla123@outlook.com" userId="071bd4d2405bc793" providerId="LiveId" clId="{A0B91CD3-9F57-41E4-8915-16EEFCD6B1A2}" dt="2026-02-02T10:31:42.133" v="41" actId="2711"/>
        <pc:sldMkLst>
          <pc:docMk/>
          <pc:sldMk cId="2407852346" sldId="304"/>
        </pc:sldMkLst>
        <pc:spChg chg="mod">
          <ac:chgData name="karthiklingutla123@outlook.com" userId="071bd4d2405bc793" providerId="LiveId" clId="{A0B91CD3-9F57-41E4-8915-16EEFCD6B1A2}" dt="2026-02-02T10:31:42.133" v="41" actId="2711"/>
          <ac:spMkLst>
            <pc:docMk/>
            <pc:sldMk cId="2407852346" sldId="304"/>
            <ac:spMk id="3" creationId="{DE2AB39B-D1F7-43CA-0112-5F49FA0B3820}"/>
          </ac:spMkLst>
        </pc:spChg>
      </pc:sldChg>
      <pc:sldChg chg="modSp mod">
        <pc:chgData name="karthiklingutla123@outlook.com" userId="071bd4d2405bc793" providerId="LiveId" clId="{A0B91CD3-9F57-41E4-8915-16EEFCD6B1A2}" dt="2026-02-03T03:10:29.601" v="78" actId="688"/>
        <pc:sldMkLst>
          <pc:docMk/>
          <pc:sldMk cId="3805786277" sldId="305"/>
        </pc:sldMkLst>
        <pc:picChg chg="mod">
          <ac:chgData name="karthiklingutla123@outlook.com" userId="071bd4d2405bc793" providerId="LiveId" clId="{A0B91CD3-9F57-41E4-8915-16EEFCD6B1A2}" dt="2026-02-03T03:10:29.601" v="78" actId="688"/>
          <ac:picMkLst>
            <pc:docMk/>
            <pc:sldMk cId="3805786277" sldId="305"/>
            <ac:picMk id="7" creationId="{FE3409FC-5052-87E8-5FCD-E27E15DD8943}"/>
          </ac:picMkLst>
        </pc:picChg>
      </pc:sldChg>
      <pc:sldChg chg="modSp mod">
        <pc:chgData name="karthiklingutla123@outlook.com" userId="071bd4d2405bc793" providerId="LiveId" clId="{A0B91CD3-9F57-41E4-8915-16EEFCD6B1A2}" dt="2026-02-03T03:25:58.004" v="93" actId="1035"/>
        <pc:sldMkLst>
          <pc:docMk/>
          <pc:sldMk cId="1177800909" sldId="306"/>
        </pc:sldMkLst>
        <pc:spChg chg="mod">
          <ac:chgData name="karthiklingutla123@outlook.com" userId="071bd4d2405bc793" providerId="LiveId" clId="{A0B91CD3-9F57-41E4-8915-16EEFCD6B1A2}" dt="2026-02-03T03:25:58.004" v="93" actId="1035"/>
          <ac:spMkLst>
            <pc:docMk/>
            <pc:sldMk cId="1177800909" sldId="306"/>
            <ac:spMk id="3" creationId="{094B1EA3-2063-4EC5-C0E1-F3C12ED1DE7C}"/>
          </ac:spMkLst>
        </pc:spChg>
      </pc:sldChg>
      <pc:sldChg chg="modSp mod">
        <pc:chgData name="karthiklingutla123@outlook.com" userId="071bd4d2405bc793" providerId="LiveId" clId="{A0B91CD3-9F57-41E4-8915-16EEFCD6B1A2}" dt="2026-02-02T10:07:30.111" v="5" actId="123"/>
        <pc:sldMkLst>
          <pc:docMk/>
          <pc:sldMk cId="2125511965" sldId="307"/>
        </pc:sldMkLst>
        <pc:spChg chg="mod">
          <ac:chgData name="karthiklingutla123@outlook.com" userId="071bd4d2405bc793" providerId="LiveId" clId="{A0B91CD3-9F57-41E4-8915-16EEFCD6B1A2}" dt="2026-02-02T10:07:30.111" v="5" actId="123"/>
          <ac:spMkLst>
            <pc:docMk/>
            <pc:sldMk cId="2125511965" sldId="307"/>
            <ac:spMk id="5" creationId="{6FA3FC21-E7D8-A6DF-3D1E-BC587750255E}"/>
          </ac:spMkLst>
        </pc:spChg>
      </pc:sldChg>
      <pc:sldChg chg="modSp mod">
        <pc:chgData name="karthiklingutla123@outlook.com" userId="071bd4d2405bc793" providerId="LiveId" clId="{A0B91CD3-9F57-41E4-8915-16EEFCD6B1A2}" dt="2026-02-02T10:07:23.325" v="4" actId="123"/>
        <pc:sldMkLst>
          <pc:docMk/>
          <pc:sldMk cId="3687297011" sldId="308"/>
        </pc:sldMkLst>
        <pc:spChg chg="mod">
          <ac:chgData name="karthiklingutla123@outlook.com" userId="071bd4d2405bc793" providerId="LiveId" clId="{A0B91CD3-9F57-41E4-8915-16EEFCD6B1A2}" dt="2026-02-02T10:07:23.325" v="4" actId="123"/>
          <ac:spMkLst>
            <pc:docMk/>
            <pc:sldMk cId="3687297011" sldId="308"/>
            <ac:spMk id="3" creationId="{9B10D33B-D18C-E3AB-B11E-522130F7156E}"/>
          </ac:spMkLst>
        </pc:spChg>
      </pc:sldChg>
      <pc:sldChg chg="addSp modSp mod">
        <pc:chgData name="karthiklingutla123@outlook.com" userId="071bd4d2405bc793" providerId="LiveId" clId="{A0B91CD3-9F57-41E4-8915-16EEFCD6B1A2}" dt="2026-02-03T03:10:30.114" v="79" actId="1035"/>
        <pc:sldMkLst>
          <pc:docMk/>
          <pc:sldMk cId="1999908937" sldId="309"/>
        </pc:sldMkLst>
        <pc:picChg chg="add mod">
          <ac:chgData name="karthiklingutla123@outlook.com" userId="071bd4d2405bc793" providerId="LiveId" clId="{A0B91CD3-9F57-41E4-8915-16EEFCD6B1A2}" dt="2026-02-03T02:48:12.845" v="67" actId="208"/>
          <ac:picMkLst>
            <pc:docMk/>
            <pc:sldMk cId="1999908937" sldId="309"/>
            <ac:picMk id="5" creationId="{9840C128-70E9-D852-6A2F-A7EB711ADE6A}"/>
          </ac:picMkLst>
        </pc:picChg>
        <pc:picChg chg="add mod">
          <ac:chgData name="karthiklingutla123@outlook.com" userId="071bd4d2405bc793" providerId="LiveId" clId="{A0B91CD3-9F57-41E4-8915-16EEFCD6B1A2}" dt="2026-02-03T03:10:30.114" v="79" actId="1035"/>
          <ac:picMkLst>
            <pc:docMk/>
            <pc:sldMk cId="1999908937" sldId="309"/>
            <ac:picMk id="8" creationId="{02C0DA41-A364-5048-750C-D2148663AFBD}"/>
          </ac:picMkLst>
        </pc:picChg>
        <pc:picChg chg="add mod">
          <ac:chgData name="karthiklingutla123@outlook.com" userId="071bd4d2405bc793" providerId="LiveId" clId="{A0B91CD3-9F57-41E4-8915-16EEFCD6B1A2}" dt="2026-02-03T02:48:32.716" v="71" actId="208"/>
          <ac:picMkLst>
            <pc:docMk/>
            <pc:sldMk cId="1999908937" sldId="309"/>
            <ac:picMk id="10" creationId="{AD2652E0-E4FD-2E6E-3ECA-6FE8129065B3}"/>
          </ac:picMkLst>
        </pc:picChg>
      </pc:sldChg>
      <pc:sldChg chg="modSp mod">
        <pc:chgData name="karthiklingutla123@outlook.com" userId="071bd4d2405bc793" providerId="LiveId" clId="{A0B91CD3-9F57-41E4-8915-16EEFCD6B1A2}" dt="2026-02-02T10:32:13.318" v="44" actId="2711"/>
        <pc:sldMkLst>
          <pc:docMk/>
          <pc:sldMk cId="2769927693" sldId="310"/>
        </pc:sldMkLst>
        <pc:spChg chg="mod">
          <ac:chgData name="karthiklingutla123@outlook.com" userId="071bd4d2405bc793" providerId="LiveId" clId="{A0B91CD3-9F57-41E4-8915-16EEFCD6B1A2}" dt="2026-02-02T10:32:13.318" v="44" actId="2711"/>
          <ac:spMkLst>
            <pc:docMk/>
            <pc:sldMk cId="2769927693" sldId="310"/>
            <ac:spMk id="7" creationId="{BCB72872-20A9-B56F-3FEC-D7A4C0418CDA}"/>
          </ac:spMkLst>
        </pc:spChg>
      </pc:sldChg>
      <pc:sldChg chg="modSp mod">
        <pc:chgData name="karthiklingutla123@outlook.com" userId="071bd4d2405bc793" providerId="LiveId" clId="{A0B91CD3-9F57-41E4-8915-16EEFCD6B1A2}" dt="2026-02-02T10:08:14.675" v="11" actId="123"/>
        <pc:sldMkLst>
          <pc:docMk/>
          <pc:sldMk cId="3216201595" sldId="311"/>
        </pc:sldMkLst>
        <pc:spChg chg="mod">
          <ac:chgData name="karthiklingutla123@outlook.com" userId="071bd4d2405bc793" providerId="LiveId" clId="{A0B91CD3-9F57-41E4-8915-16EEFCD6B1A2}" dt="2026-02-02T10:08:14.675" v="11" actId="123"/>
          <ac:spMkLst>
            <pc:docMk/>
            <pc:sldMk cId="3216201595" sldId="311"/>
            <ac:spMk id="7" creationId="{1446B420-209A-ADAB-9D25-447565DF8912}"/>
          </ac:spMkLst>
        </pc:spChg>
      </pc:sldChg>
      <pc:sldChg chg="modSp mod">
        <pc:chgData name="karthiklingutla123@outlook.com" userId="071bd4d2405bc793" providerId="LiveId" clId="{A0B91CD3-9F57-41E4-8915-16EEFCD6B1A2}" dt="2026-02-02T10:30:54.472" v="38" actId="114"/>
        <pc:sldMkLst>
          <pc:docMk/>
          <pc:sldMk cId="1853160082" sldId="312"/>
        </pc:sldMkLst>
        <pc:spChg chg="mod">
          <ac:chgData name="karthiklingutla123@outlook.com" userId="071bd4d2405bc793" providerId="LiveId" clId="{A0B91CD3-9F57-41E4-8915-16EEFCD6B1A2}" dt="2026-02-02T10:30:54.472" v="38" actId="114"/>
          <ac:spMkLst>
            <pc:docMk/>
            <pc:sldMk cId="1853160082" sldId="312"/>
            <ac:spMk id="7" creationId="{809F8FBD-C9D7-7D68-D9B5-C968A19FEAFA}"/>
          </ac:spMkLst>
        </pc:spChg>
      </pc:sldChg>
      <pc:sldChg chg="modSp mod">
        <pc:chgData name="karthiklingutla123@outlook.com" userId="071bd4d2405bc793" providerId="LiveId" clId="{A0B91CD3-9F57-41E4-8915-16EEFCD6B1A2}" dt="2026-02-02T10:31:49.706" v="42" actId="2711"/>
        <pc:sldMkLst>
          <pc:docMk/>
          <pc:sldMk cId="1497514149" sldId="313"/>
        </pc:sldMkLst>
        <pc:spChg chg="mod">
          <ac:chgData name="karthiklingutla123@outlook.com" userId="071bd4d2405bc793" providerId="LiveId" clId="{A0B91CD3-9F57-41E4-8915-16EEFCD6B1A2}" dt="2026-02-02T10:31:49.706" v="42" actId="2711"/>
          <ac:spMkLst>
            <pc:docMk/>
            <pc:sldMk cId="1497514149" sldId="313"/>
            <ac:spMk id="7" creationId="{97963A1A-987C-37D9-3D4F-EF57F7615B09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2D2320-1A10-4861-AEE9-D7BDDF83FBD5}" type="doc">
      <dgm:prSet loTypeId="urn:microsoft.com/office/officeart/2008/layout/BendingPictureCaption" loCatId="picture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3832377-5D57-433E-B213-DB5BAAA732AC}">
      <dgm:prSet phldrT="[Text]" phldr="0"/>
      <dgm:spPr/>
      <dgm:t>
        <a:bodyPr/>
        <a:lstStyle/>
        <a:p>
          <a:r>
            <a:rPr lang="en-US" dirty="0"/>
            <a:t>DATA</a:t>
          </a:r>
          <a:endParaRPr lang="en-IN" dirty="0"/>
        </a:p>
      </dgm:t>
    </dgm:pt>
    <dgm:pt modelId="{2B2041A4-B6D2-4FCD-98DE-7BDEC1A51DB4}" type="parTrans" cxnId="{D2CDCC3B-B34C-490F-AEE3-C5F849506BE2}">
      <dgm:prSet/>
      <dgm:spPr/>
      <dgm:t>
        <a:bodyPr/>
        <a:lstStyle/>
        <a:p>
          <a:endParaRPr lang="en-IN"/>
        </a:p>
      </dgm:t>
    </dgm:pt>
    <dgm:pt modelId="{07102A1B-19C3-4EBF-B8F1-0DA454D3BAB8}" type="sibTrans" cxnId="{D2CDCC3B-B34C-490F-AEE3-C5F849506BE2}">
      <dgm:prSet/>
      <dgm:spPr/>
      <dgm:t>
        <a:bodyPr/>
        <a:lstStyle/>
        <a:p>
          <a:endParaRPr lang="en-IN"/>
        </a:p>
      </dgm:t>
    </dgm:pt>
    <dgm:pt modelId="{01AA8CA8-8ADA-4ABD-9130-738971C2E851}" type="pres">
      <dgm:prSet presAssocID="{B42D2320-1A10-4861-AEE9-D7BDDF83FBD5}" presName="diagram" presStyleCnt="0">
        <dgm:presLayoutVars>
          <dgm:dir/>
        </dgm:presLayoutVars>
      </dgm:prSet>
      <dgm:spPr/>
    </dgm:pt>
    <dgm:pt modelId="{DC695EEE-FDD5-4B35-B201-98F3F6808EBA}" type="pres">
      <dgm:prSet presAssocID="{23832377-5D57-433E-B213-DB5BAAA732AC}" presName="composite" presStyleCnt="0"/>
      <dgm:spPr/>
    </dgm:pt>
    <dgm:pt modelId="{159157CE-C88A-4DC2-BD4E-55902FE90F77}" type="pres">
      <dgm:prSet presAssocID="{23832377-5D57-433E-B213-DB5BAAA732AC}" presName="Image" presStyleLbl="bgShp" presStyleIdx="0" presStyleCnt="1" custLinFactNeighborX="10369" custLinFactNeighborY="107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>
          <a:solidFill>
            <a:srgbClr val="00B050"/>
          </a:solidFill>
        </a:ln>
      </dgm:spPr>
    </dgm:pt>
    <dgm:pt modelId="{5C8B8A9F-694A-4503-8643-142FF579E3AF}" type="pres">
      <dgm:prSet presAssocID="{23832377-5D57-433E-B213-DB5BAAA732AC}" presName="Parent" presStyleLbl="node0" presStyleIdx="0" presStyleCnt="1">
        <dgm:presLayoutVars>
          <dgm:bulletEnabled val="1"/>
        </dgm:presLayoutVars>
      </dgm:prSet>
      <dgm:spPr/>
    </dgm:pt>
  </dgm:ptLst>
  <dgm:cxnLst>
    <dgm:cxn modelId="{90173D21-30EB-4F74-BD9F-64A91EF3CC5A}" type="presOf" srcId="{23832377-5D57-433E-B213-DB5BAAA732AC}" destId="{5C8B8A9F-694A-4503-8643-142FF579E3AF}" srcOrd="0" destOrd="0" presId="urn:microsoft.com/office/officeart/2008/layout/BendingPictureCaption"/>
    <dgm:cxn modelId="{D2CDCC3B-B34C-490F-AEE3-C5F849506BE2}" srcId="{B42D2320-1A10-4861-AEE9-D7BDDF83FBD5}" destId="{23832377-5D57-433E-B213-DB5BAAA732AC}" srcOrd="0" destOrd="0" parTransId="{2B2041A4-B6D2-4FCD-98DE-7BDEC1A51DB4}" sibTransId="{07102A1B-19C3-4EBF-B8F1-0DA454D3BAB8}"/>
    <dgm:cxn modelId="{7C8B1A8D-D332-45CB-A297-93916574504B}" type="presOf" srcId="{B42D2320-1A10-4861-AEE9-D7BDDF83FBD5}" destId="{01AA8CA8-8ADA-4ABD-9130-738971C2E851}" srcOrd="0" destOrd="0" presId="urn:microsoft.com/office/officeart/2008/layout/BendingPictureCaption"/>
    <dgm:cxn modelId="{9A125CE7-842F-40D6-BB36-C1DF177C0F7B}" type="presParOf" srcId="{01AA8CA8-8ADA-4ABD-9130-738971C2E851}" destId="{DC695EEE-FDD5-4B35-B201-98F3F6808EBA}" srcOrd="0" destOrd="0" presId="urn:microsoft.com/office/officeart/2008/layout/BendingPictureCaption"/>
    <dgm:cxn modelId="{DBF138E9-8E36-4105-8438-E501321EA312}" type="presParOf" srcId="{DC695EEE-FDD5-4B35-B201-98F3F6808EBA}" destId="{159157CE-C88A-4DC2-BD4E-55902FE90F77}" srcOrd="0" destOrd="0" presId="urn:microsoft.com/office/officeart/2008/layout/BendingPictureCaption"/>
    <dgm:cxn modelId="{4B6A16FC-9D09-4D9D-9025-2CE1ACBF1B39}" type="presParOf" srcId="{DC695EEE-FDD5-4B35-B201-98F3F6808EBA}" destId="{5C8B8A9F-694A-4503-8643-142FF579E3AF}" srcOrd="1" destOrd="0" presId="urn:microsoft.com/office/officeart/2008/layout/BendingPictureCaption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9157CE-C88A-4DC2-BD4E-55902FE90F77}">
      <dsp:nvSpPr>
        <dsp:cNvPr id="0" name=""/>
        <dsp:cNvSpPr/>
      </dsp:nvSpPr>
      <dsp:spPr>
        <a:xfrm>
          <a:off x="314917" y="32270"/>
          <a:ext cx="4077258" cy="3013079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>
          <a:solidFill>
            <a:srgbClr val="00B05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8B8A9F-694A-4503-8643-142FF579E3AF}">
      <dsp:nvSpPr>
        <dsp:cNvPr id="0" name=""/>
        <dsp:cNvSpPr/>
      </dsp:nvSpPr>
      <dsp:spPr>
        <a:xfrm>
          <a:off x="851460" y="2466751"/>
          <a:ext cx="3513382" cy="8443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9535" tIns="89535" rIns="89535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n-US" sz="4700" kern="1200" dirty="0"/>
            <a:t>DATA</a:t>
          </a:r>
          <a:endParaRPr lang="en-IN" sz="4700" kern="1200" dirty="0"/>
        </a:p>
      </dsp:txBody>
      <dsp:txXfrm>
        <a:off x="851460" y="2466751"/>
        <a:ext cx="3513382" cy="844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Caption">
  <dgm:title val=""/>
  <dgm:desc val=""/>
  <dgm:catLst>
    <dgm:cat type="picture" pri="6000"/>
    <dgm:cat type="pictureconvert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7" srcId="0" destId="1" srcOrd="0" destOrd="0"/>
        <dgm:cxn modelId="8" srcId="0" destId="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diagram">
    <dgm:varLst>
      <dgm:dir/>
    </dgm:varLst>
    <dgm:choose name="Name0">
      <dgm:if name="Name1" func="var" arg="dir" op="equ" val="norm">
        <dgm:alg type="snake">
          <dgm:param type="off" val="ctr"/>
        </dgm:alg>
      </dgm:if>
      <dgm:else name="Name2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.19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if>
          <dgm:else name="Name5">
            <dgm:constrLst>
              <dgm:constr type="l" for="ch" forName="Image" refType="w" fact="0.06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else>
        </dgm:choose>
        <dgm:layoutNode name="Image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node0">
          <dgm:varLst>
            <dgm:bulletEnabled val="1"/>
          </dgm:varLst>
          <dgm:alg type="tx">
            <dgm:param type="txAnchorVertCh" val="mid"/>
            <dgm:param type="shpTxRTLAlignCh" val="r"/>
            <dgm:param type="lnSpAfParP" val="5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F9ADD-5F9B-44C8-81AB-C1D69AEE281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5991C9-1431-45D4-B7CB-DC9F1FB27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64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53A239A7-2BFE-59D9-62D4-D34B3727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dfe6d782_0_138:notes">
            <a:extLst>
              <a:ext uri="{FF2B5EF4-FFF2-40B4-BE49-F238E27FC236}">
                <a16:creationId xmlns:a16="http://schemas.microsoft.com/office/drawing/2014/main" id="{36782AEE-DE3A-3108-DCB4-862EF0CE9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5" name="Google Shape;185;g366dfe6d782_0_138:notes">
            <a:extLst>
              <a:ext uri="{FF2B5EF4-FFF2-40B4-BE49-F238E27FC236}">
                <a16:creationId xmlns:a16="http://schemas.microsoft.com/office/drawing/2014/main" id="{6A9452C0-1446-370F-639C-955DB882C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5010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5991C9-1431-45D4-B7CB-DC9F1FB27FC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808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244E-7B57-9BE9-C551-BFA69955D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B0F64-D6CC-1A8A-01C1-A54EAA525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982C1-1E8F-BAAD-088A-642A42088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68DE-3F36-43EF-A6D0-A90FA101524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BEB7-0446-0939-8B26-8FB5DB353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AA7B4-2C56-F021-A03B-7BD2066AD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6C2A-3ADC-4FFB-81B0-365E4A046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5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F528B-270F-4297-BC60-8146C30B0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04E00-246B-8AC8-C2BF-659773E91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868E5-DCCF-C013-B874-EBBA474AB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68DE-3F36-43EF-A6D0-A90FA101524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134B8-1AF0-E047-0F02-3A040038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D5F75-3E4B-B294-1150-FD09F883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6C2A-3ADC-4FFB-81B0-365E4A046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6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9B511-2203-4D50-53BA-FC2B4A6BE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18481-B7B0-834F-CF17-4629D40EC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5BBB0-96B4-6D40-DD78-EBA45C99F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68DE-3F36-43EF-A6D0-A90FA101524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CB0F3-F571-FFA0-A365-B443CF05C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1B036-D7FB-7CD2-81B9-27946A793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6C2A-3ADC-4FFB-81B0-365E4A046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3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C3A1-9FA8-DF03-FE26-3265A2273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320D5-F843-5762-FE82-CBE186EF2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07384-EC4A-5158-43D7-F59913B1B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123D8-C9EF-9E69-7E03-DB6834942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68DE-3F36-43EF-A6D0-A90FA101524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3F004-743B-12B0-57EB-F6C0AF4D8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4DA2A-80C4-EB7E-F931-BA95A0B9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6C2A-3ADC-4FFB-81B0-365E4A046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77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B54DF-E0A9-F711-ED02-882BC9D33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CBE90-2BEF-27D8-6B03-B11905453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ACC4D-C9F6-82D1-6352-DAACFCC34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25EAD5-EA8B-EE24-499D-6F3F70CEF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0ECF4E-731E-265A-2CE6-8550A3C37D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505603-A1B9-F555-E425-6C3126B6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68DE-3F36-43EF-A6D0-A90FA101524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CA8B9E-98D3-2ACA-0902-CC3022BD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1B13DB-E398-FA16-BCE2-A47245740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6C2A-3ADC-4FFB-81B0-365E4A046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8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23441-8720-769A-DF93-CB4BCB2E4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EC370F-B43E-78B1-14DC-672A5104A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68DE-3F36-43EF-A6D0-A90FA101524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8F99E-BA7D-798A-7091-5B4AEF871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C2A4BA-AE73-1C1A-1265-26B98EAEB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6C2A-3ADC-4FFB-81B0-365E4A046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17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0141C4-3FFF-C755-6DD5-9AE6EB9D3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68DE-3F36-43EF-A6D0-A90FA101524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0C35E-84AC-136C-68F1-AC308247A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02AB9-C44C-F42D-F528-CA28349DF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6C2A-3ADC-4FFB-81B0-365E4A046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79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23992-190E-CE15-E336-C2E1F383E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C1CA3-2D9A-AF1E-B462-52D0E9C29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FBA38-FD7F-935F-98A0-62B9D77EB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EC2C4-2F45-7EC0-7317-920FBE1BE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68DE-3F36-43EF-A6D0-A90FA101524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B1480-1B2B-CB8F-2A0D-AE404A54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1BA17-2802-FE95-DECA-B6306DE5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6C2A-3ADC-4FFB-81B0-365E4A046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11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EF8E8-8CE6-FD12-5F9E-E0816825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42640-BDE2-96C0-4B0E-535D6ECB7F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5F1461-37A6-DF88-7982-34D33A8AE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6A638-724E-29BC-03FA-B85BDEC5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68DE-3F36-43EF-A6D0-A90FA101524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56C59-AA05-9AB3-7C1B-DF97C3C70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626AB-0EDA-45A1-A009-62986AF10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6C2A-3ADC-4FFB-81B0-365E4A046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21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9A077-1955-84E9-A0DD-441CB6C05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049D98-124D-09BE-F290-4BFD597C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66941-9D03-8312-810B-B52D6C7BD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68DE-3F36-43EF-A6D0-A90FA101524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F6563-3E6D-2F4D-8E4B-2D17B932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36079-0241-6514-01F4-38A8FDEB4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6C2A-3ADC-4FFB-81B0-365E4A046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3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F4CD60-B6FD-8E36-FCB3-DBBE259799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AAD4C6-47E8-FA77-215C-30E727834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773BD-47E2-F34A-26F5-A4218F4B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68DE-3F36-43EF-A6D0-A90FA101524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DE701-D834-B869-0B4F-49CC504AA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46174-D1D8-5B80-FA6B-C9B634BCB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B6C2A-3ADC-4FFB-81B0-365E4A046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27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680C01-F386-84D0-5EE2-EEA025607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4D87C-536E-D7B6-E12D-4D5871793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77803-6648-8A2D-DFA2-5006E33C95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868DE-3F36-43EF-A6D0-A90FA101524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8BC45-5411-56ED-383E-FE0D29B8B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3244A-7F96-7DC2-0847-8FC03ED0F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8B6C2A-3ADC-4FFB-81B0-365E4A046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59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cs.python.org/3/" TargetMode="External"/><Relationship Id="rId4" Type="http://schemas.openxmlformats.org/officeDocument/2006/relationships/hyperlink" Target="https://plotly.com/javascript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00C0379A-FDD7-C651-24E6-9A879A11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C2FDA0-6F14-95CC-C28D-AFB512F9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18" y="1259942"/>
            <a:ext cx="10989954" cy="29862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Healthcare: Interactive Medical Data Transformation &amp; Dynamic Visualization System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DSA0613-Data Handling and Data Visualization for Data Analytics</a:t>
            </a:r>
            <a:br>
              <a:rPr lang="en-IN"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SIMATS ENGINEERING —BIOTECHNOLOGY">
            <a:extLst>
              <a:ext uri="{FF2B5EF4-FFF2-40B4-BE49-F238E27FC236}">
                <a16:creationId xmlns:a16="http://schemas.microsoft.com/office/drawing/2014/main" id="{EBB794B4-8F64-A737-C2B5-70C223BD1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03" y="60690"/>
            <a:ext cx="11810357" cy="116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3B50E4-CEB7-3CF8-588F-B289EDB0A5C1}"/>
              </a:ext>
            </a:extLst>
          </p:cNvPr>
          <p:cNvSpPr txBox="1"/>
          <p:nvPr/>
        </p:nvSpPr>
        <p:spPr>
          <a:xfrm>
            <a:off x="325173" y="3677537"/>
            <a:ext cx="5383527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Kumaragurubaran 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Senthilvadivu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CHENNAI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48CF37-E31A-6EEE-BC99-20F5D425A24A}"/>
              </a:ext>
            </a:extLst>
          </p:cNvPr>
          <p:cNvSpPr txBox="1"/>
          <p:nvPr/>
        </p:nvSpPr>
        <p:spPr>
          <a:xfrm>
            <a:off x="5486400" y="2818828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53227-A697-F3C3-46D2-424403263327}"/>
              </a:ext>
            </a:extLst>
          </p:cNvPr>
          <p:cNvSpPr txBox="1"/>
          <p:nvPr/>
        </p:nvSpPr>
        <p:spPr>
          <a:xfrm>
            <a:off x="6407675" y="3677344"/>
            <a:ext cx="5784325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Hemanth Kumar(192424025)</a:t>
            </a:r>
          </a:p>
          <a:p>
            <a:r>
              <a:rPr lang="en-IN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Karthik(192424206)</a:t>
            </a:r>
            <a:endParaRPr lang="en-IN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Durga Prasanth</a:t>
            </a: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(192424246)</a:t>
            </a:r>
            <a:r>
              <a:rPr lang="en-IN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IN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AI&amp;DS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CHENNAI   </a:t>
            </a:r>
          </a:p>
        </p:txBody>
      </p:sp>
    </p:spTree>
    <p:extLst>
      <p:ext uri="{BB962C8B-B14F-4D97-AF65-F5344CB8AC3E}">
        <p14:creationId xmlns:p14="http://schemas.microsoft.com/office/powerpoint/2010/main" val="199378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7D12C-61AC-0362-8B4C-8DBF07841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8C4B9-B757-0CFF-D22E-4286C6FC7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706" y="215227"/>
            <a:ext cx="5412120" cy="838200"/>
          </a:xfrm>
        </p:spPr>
        <p:txBody>
          <a:bodyPr/>
          <a:lstStyle/>
          <a:p>
            <a:pPr algn="ctr"/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D9731-B866-48A0-78E5-023BB6CB8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634" y="1518663"/>
            <a:ext cx="3944196" cy="518944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latin typeface="Times New Roman"/>
                <a:cs typeface="Times New Roman"/>
              </a:rPr>
              <a:t>Introduction</a:t>
            </a:r>
          </a:p>
          <a:p>
            <a:r>
              <a:rPr lang="en-US" sz="2400">
                <a:latin typeface="Times New Roman"/>
                <a:cs typeface="Times New Roman"/>
              </a:rPr>
              <a:t>Problem statement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effectLst/>
                <a:latin typeface="Times New Roman"/>
                <a:cs typeface="Times New Roman"/>
              </a:rPr>
              <a:t>Objectives</a:t>
            </a:r>
          </a:p>
          <a:p>
            <a:r>
              <a:rPr lang="en-US" sz="2400">
                <a:latin typeface="Times New Roman"/>
                <a:cs typeface="Times New Roman"/>
              </a:rPr>
              <a:t>Proposed methodology</a:t>
            </a:r>
          </a:p>
          <a:p>
            <a:r>
              <a:rPr lang="en-US" sz="2400">
                <a:latin typeface="Times New Roman"/>
                <a:cs typeface="Times New Roman"/>
              </a:rPr>
              <a:t>Architecture diagram</a:t>
            </a:r>
          </a:p>
          <a:p>
            <a:r>
              <a:rPr lang="en-US" sz="2400">
                <a:latin typeface="Times New Roman"/>
                <a:cs typeface="Times New Roman"/>
              </a:rPr>
              <a:t>Modules</a:t>
            </a:r>
          </a:p>
          <a:p>
            <a:r>
              <a:rPr lang="en-US" sz="2400">
                <a:latin typeface="Times New Roman"/>
                <a:cs typeface="Times New Roman"/>
              </a:rPr>
              <a:t>Implementation</a:t>
            </a:r>
          </a:p>
          <a:p>
            <a:r>
              <a:rPr lang="en-US" sz="2400">
                <a:latin typeface="Times New Roman"/>
                <a:cs typeface="Times New Roman"/>
              </a:rPr>
              <a:t>Conclusion</a:t>
            </a:r>
          </a:p>
          <a:p>
            <a:r>
              <a:rPr lang="en-US" sz="2400">
                <a:effectLst/>
                <a:latin typeface="Times New Roman"/>
                <a:cs typeface="Times New Roman"/>
              </a:rPr>
              <a:t>Future scope</a:t>
            </a:r>
          </a:p>
          <a:p>
            <a:r>
              <a:rPr lang="en-US" sz="2400">
                <a:effectLst/>
                <a:latin typeface="Times New Roman"/>
                <a:cs typeface="Times New Roman"/>
              </a:rPr>
              <a:t>References</a:t>
            </a:r>
          </a:p>
          <a:p>
            <a:endParaRPr lang="en-US" sz="240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8324CCD-6360-9BF1-B2F2-87DE79958D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52" y="0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3BE3B74-8419-CA88-5A49-612CD4FDEB1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25089" y="0"/>
            <a:ext cx="1520062" cy="13428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C4A92F-AB71-465E-5D5A-D9CD1D970C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203" t="1787" r="4620" b="5704"/>
          <a:stretch>
            <a:fillRect/>
          </a:stretch>
        </p:blipFill>
        <p:spPr>
          <a:xfrm>
            <a:off x="6546267" y="1496712"/>
            <a:ext cx="4738853" cy="392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792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692F8-8C1F-B843-9BAA-542C9AD81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706" y="215227"/>
            <a:ext cx="5412120" cy="838200"/>
          </a:xfrm>
        </p:spPr>
        <p:txBody>
          <a:bodyPr/>
          <a:lstStyle/>
          <a:p>
            <a:pPr algn="ctr"/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24FC763-F237-D9DB-5F57-D31FAED808F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360F5B1-3961-5806-AB04-2C03522C640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F0461D0-F76D-53E9-F949-283257EA1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64" y="1605955"/>
            <a:ext cx="11301940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Healthcare generates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massive, complex data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 must be handled efficiently.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 medical data needs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cleaning and transformation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be useful.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systems simplify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data processing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reduce manual work.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dashboards and visualizations reveal trends instantly.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Transformed data + visuals enable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faster, smarter healthcare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real-time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monitoring of patients and hospital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Promotes a fully data-driven approach for modern healthcare systems.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data accuracy, consistency,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overall system reliability.</a:t>
            </a:r>
          </a:p>
        </p:txBody>
      </p:sp>
    </p:spTree>
    <p:extLst>
      <p:ext uri="{BB962C8B-B14F-4D97-AF65-F5344CB8AC3E}">
        <p14:creationId xmlns:p14="http://schemas.microsoft.com/office/powerpoint/2010/main" val="256144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3013-411C-C08A-A49A-654F51FC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06E9-75CB-14C8-713E-595269BA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706" y="215227"/>
            <a:ext cx="5412120" cy="838200"/>
          </a:xfrm>
        </p:spPr>
        <p:txBody>
          <a:bodyPr/>
          <a:lstStyle/>
          <a:p>
            <a:pPr algn="ctr"/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98977D2-4CCA-0CBE-EF92-768B6B9CE21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A33F281-5824-F6D6-CEB4-402A38924EF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E44CF617-78B6-F4BE-2823-0834411ED2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614" y="1975296"/>
            <a:ext cx="7294179" cy="4442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(Problems)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data is stored in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separate systems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(EHR, lab, scans, wearables) that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 talk to each other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properly.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often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missing information, repeated records, and different medical codes used for the same thing.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 are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(just charts), so doctors and analysts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can’t interact or drill down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easily.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Turning data insights into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actions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slow, and AI models are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use in real systems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Impacts (Effects)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get information late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can delay treatment decisions.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track population health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predict risks, or identify high-risk patients early.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and audit rules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becomes difficult because data history and tracking are weak.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646178-9ACB-CC2C-147C-1C8E0F8EF6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119" y="2374637"/>
            <a:ext cx="4829332" cy="293984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chemeClr val="accent5">
                <a:lumMod val="40000"/>
                <a:lumOff val="60000"/>
              </a:schemeClr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06165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1.85185E-6 L 0.125 1.85185E-6 C 0.18099 1.85185E-6 0.25 0.06898 0.25 0.125 L 0.25 0.25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50B9B7-5FCF-940B-95E9-7A58CCB80ADA}"/>
              </a:ext>
            </a:extLst>
          </p:cNvPr>
          <p:cNvSpPr/>
          <p:nvPr/>
        </p:nvSpPr>
        <p:spPr>
          <a:xfrm>
            <a:off x="5166382" y="4081146"/>
            <a:ext cx="6096001" cy="19664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F1D3FE-ADBB-2301-F1E2-A6FD3C114D4B}"/>
              </a:ext>
            </a:extLst>
          </p:cNvPr>
          <p:cNvSpPr/>
          <p:nvPr/>
        </p:nvSpPr>
        <p:spPr>
          <a:xfrm>
            <a:off x="5166382" y="1865128"/>
            <a:ext cx="5893197" cy="19664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4C3865-CD8D-0C44-37BF-57C70F385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16230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1D2679-B1BF-4E75-25FB-D1B1D72F3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51" y="162304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C7E4B5-1DD7-D612-0FBA-E4531592FF23}"/>
              </a:ext>
            </a:extLst>
          </p:cNvPr>
          <p:cNvSpPr txBox="1"/>
          <p:nvPr/>
        </p:nvSpPr>
        <p:spPr>
          <a:xfrm>
            <a:off x="1443727" y="305875"/>
            <a:ext cx="90729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5" name="Picture 4" descr="10 best factors to consider to choose a WordPress theme">
            <a:extLst>
              <a:ext uri="{FF2B5EF4-FFF2-40B4-BE49-F238E27FC236}">
                <a16:creationId xmlns:a16="http://schemas.microsoft.com/office/drawing/2014/main" id="{200B88F3-510C-9FF1-26E1-B1B6BB32F3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1" r="-323" b="303"/>
          <a:stretch>
            <a:fillRect/>
          </a:stretch>
        </p:blipFill>
        <p:spPr>
          <a:xfrm>
            <a:off x="588697" y="1857650"/>
            <a:ext cx="3490324" cy="36589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BCF78A-B25D-C819-2F56-B04B8CC6281A}"/>
              </a:ext>
            </a:extLst>
          </p:cNvPr>
          <p:cNvSpPr txBox="1"/>
          <p:nvPr/>
        </p:nvSpPr>
        <p:spPr>
          <a:xfrm>
            <a:off x="5305744" y="1505329"/>
            <a:ext cx="6096001" cy="4388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IN" sz="20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2000" b="0" i="0" dirty="0">
              <a:solidFill>
                <a:srgbClr val="23242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endParaRPr lang="en-IN" sz="2200" b="1" i="0" dirty="0">
              <a:solidFill>
                <a:schemeClr val="accent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chemeClr val="accent2"/>
                </a:solidFill>
              </a:rPr>
              <a:t>Primary Goals (What we want to achieve)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Make all medical data uniform and usable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Show data in an easy, interactive way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Use AI/ML to support decisions</a:t>
            </a:r>
            <a:br>
              <a:rPr lang="en-US" sz="1200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  <a:p>
            <a:pPr algn="l">
              <a:buNone/>
            </a:pPr>
            <a:endParaRPr lang="en-IN" sz="2000" b="0" i="0" dirty="0">
              <a:solidFill>
                <a:srgbClr val="23242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1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/>
              <a:t>Measurable Targets </a:t>
            </a:r>
            <a:r>
              <a:rPr lang="en-US" sz="2000" b="1" dirty="0"/>
              <a:t>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2"/>
                </a:solidFill>
              </a:rPr>
              <a:t>At least 95% of data should be complete and correct</a:t>
            </a:r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2"/>
                </a:solidFill>
              </a:rPr>
              <a:t>Faster results</a:t>
            </a:r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2"/>
                </a:solidFill>
              </a:rPr>
              <a:t>Accurate prediction models</a:t>
            </a:r>
            <a:endParaRPr 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015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AA35D-D33E-C8E9-D1A2-F13F4DD07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53D397-26CE-53C9-315D-500FEE5C3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2558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1EACCA-663B-1AFF-7DC2-75FCE1029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36" y="19082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3446E9-D731-19B5-A972-C5DB8C2EF109}"/>
              </a:ext>
            </a:extLst>
          </p:cNvPr>
          <p:cNvSpPr txBox="1"/>
          <p:nvPr/>
        </p:nvSpPr>
        <p:spPr>
          <a:xfrm>
            <a:off x="1264888" y="305875"/>
            <a:ext cx="8947748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Times New Roman"/>
                <a:cs typeface="Times New Roman"/>
              </a:rPr>
              <a:t>Methodology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E2AB39B-D1F7-43CA-0112-5F49FA0B3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23" y="1749779"/>
            <a:ext cx="9498697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data is collected from structured sources such as CSV and JSON files containing patient, treatment, and hospital performance records. The system supports uploading datasets dynamically for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is cleaned by removing duplicates, handling missing values, and correcting inconsistent formats. This step ensures data quality and reliability for further processing.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Preprocessed data is transformed into a standardized structure. Derived attributes such as length of stay, mortality rate, readmission status, and bed occupancy are calculated to enable meaningful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Engine Implementation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data handling engine processes the transformed data and manages efficient data flow between the backend and visualization modules.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Generation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visualizations such as bar charts, line graphs, pie charts, and heatmaps are generated using dynamic visualization libraries. All visual components are synchronized to respond to user interactions and filters</a:t>
            </a:r>
          </a:p>
        </p:txBody>
      </p:sp>
    </p:spTree>
    <p:extLst>
      <p:ext uri="{BB962C8B-B14F-4D97-AF65-F5344CB8AC3E}">
        <p14:creationId xmlns:p14="http://schemas.microsoft.com/office/powerpoint/2010/main" val="2407852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91C4E3-E6A8-C999-91B7-A3CE26A7A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36" y="19082"/>
            <a:ext cx="1095375" cy="1343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F4C709-9EC0-F31D-79E0-D5E4F0EF3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6689" y="25584"/>
            <a:ext cx="1514475" cy="1343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5FD988-D312-B294-FDED-3FA787DC28C0}"/>
              </a:ext>
            </a:extLst>
          </p:cNvPr>
          <p:cNvSpPr txBox="1"/>
          <p:nvPr/>
        </p:nvSpPr>
        <p:spPr>
          <a:xfrm>
            <a:off x="2680138" y="32776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Times New Roman"/>
                <a:cs typeface="Times New Roman"/>
              </a:rPr>
              <a:t>Methodology</a:t>
            </a:r>
            <a:endParaRPr lang="en-US" sz="44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7963A1A-987C-37D9-3D4F-EF57F7615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23" y="1896972"/>
            <a:ext cx="848184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Computation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healthcare performance indicators including mortality rate, readmission rate, average length of stay, and department-wise performance are computed and prepared for comparison.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compares performance metrics across departments, time periods, or datasets to identify trends, inefficiencies, and high-risk areas.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Interaction &amp; Dashboard Update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apply filters, upload new data, and interact with dashboards. The system updates visualizations in real time based on user actions.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 Interpretation &amp; Validation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insights are analyzed to validate system effectiveness and ensure accurate representation of healthcare performance outcomes.</a:t>
            </a:r>
          </a:p>
        </p:txBody>
      </p:sp>
    </p:spTree>
    <p:extLst>
      <p:ext uri="{BB962C8B-B14F-4D97-AF65-F5344CB8AC3E}">
        <p14:creationId xmlns:p14="http://schemas.microsoft.com/office/powerpoint/2010/main" val="1497514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4435E-D1E8-9E03-324F-CFD65F986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821239-0347-F95D-7A58-454BB43DF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2558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380AC3-AF05-990B-5279-EF0318184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36" y="19082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372A1C-2E68-3F8E-F859-1346CB5C65D6}"/>
              </a:ext>
            </a:extLst>
          </p:cNvPr>
          <p:cNvSpPr txBox="1"/>
          <p:nvPr/>
        </p:nvSpPr>
        <p:spPr>
          <a:xfrm>
            <a:off x="1264888" y="305875"/>
            <a:ext cx="8947748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>
                <a:solidFill>
                  <a:srgbClr val="FF0000"/>
                </a:solidFill>
                <a:latin typeface="Times New Roman"/>
                <a:cs typeface="Times New Roman"/>
              </a:rPr>
              <a:t>Architecture Diagram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3409FC-5052-87E8-5FCD-E27E15DD89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477" y="1063930"/>
            <a:ext cx="8632934" cy="575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786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7C32F-EFA7-9C6F-A5FD-0AD260FC5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AF85D8-33DE-9DC1-6114-EBCE5FE39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2558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78E5E9-D9FA-0EE2-5E8E-44EC042EB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36" y="19082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EDAACD-22D5-3AC3-2946-BF244C80F989}"/>
              </a:ext>
            </a:extLst>
          </p:cNvPr>
          <p:cNvSpPr txBox="1"/>
          <p:nvPr/>
        </p:nvSpPr>
        <p:spPr>
          <a:xfrm>
            <a:off x="1264888" y="295365"/>
            <a:ext cx="8947748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>
                <a:solidFill>
                  <a:srgbClr val="FF0000"/>
                </a:solidFill>
                <a:latin typeface="Times New Roman"/>
                <a:cs typeface="Times New Roman"/>
              </a:rPr>
              <a:t>Modules overview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C1850F-68A0-2059-E296-69C9DDD2E5D8}"/>
              </a:ext>
            </a:extLst>
          </p:cNvPr>
          <p:cNvSpPr txBox="1"/>
          <p:nvPr/>
        </p:nvSpPr>
        <p:spPr>
          <a:xfrm>
            <a:off x="2101730" y="2128900"/>
            <a:ext cx="7609829" cy="26001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chemeClr val="accent4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Modules:</a:t>
            </a:r>
            <a:br>
              <a:rPr lang="en-GB" sz="28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1- Data Handling Engine &amp; Transformation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2- Synchronized Visualization matrix</a:t>
            </a:r>
          </a:p>
          <a:p>
            <a:pPr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3 - Performance Metrics &amp; Comparison</a:t>
            </a:r>
            <a:endParaRPr lang="en-GB" sz="28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06170-7E57-F138-B02A-E1A2E3FA2235}"/>
              </a:ext>
            </a:extLst>
          </p:cNvPr>
          <p:cNvSpPr/>
          <p:nvPr/>
        </p:nvSpPr>
        <p:spPr>
          <a:xfrm>
            <a:off x="3394841" y="147145"/>
            <a:ext cx="73573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429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209A9-ED7B-1349-CC31-A10B3E4C3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78AD7C-1C1F-F682-FC3B-D8773A0DE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2558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E955A6-968C-451C-21E6-54BDE565D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36" y="19082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A310EC-C3A3-9C53-18DC-3FD69BADD2C4}"/>
              </a:ext>
            </a:extLst>
          </p:cNvPr>
          <p:cNvSpPr txBox="1"/>
          <p:nvPr/>
        </p:nvSpPr>
        <p:spPr>
          <a:xfrm>
            <a:off x="1264888" y="305875"/>
            <a:ext cx="8947748" cy="7425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1- Data Handling Engine &amp; Transformation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B10D33B-D18C-E3AB-B11E-522130F71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63" y="1569966"/>
            <a:ext cx="723369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Collects healthcare data from multiple sources such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CSV, JSON, and databases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Cleans raw data by handling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values, duplicates, and inconsistent formats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Transforms data into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structure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analysis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length of stay, mortality flag, readmission rate, etc.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processing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when new records are uploaded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Acts as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backbone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feeds reliable data to all visualization modules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E2CD3C4-C176-295A-08BD-FAA0BFC3D3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0552914"/>
              </p:ext>
            </p:extLst>
          </p:nvPr>
        </p:nvGraphicFramePr>
        <p:xfrm>
          <a:off x="7364362" y="1890189"/>
          <a:ext cx="4392176" cy="33110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87297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F422F-F822-AF6A-91B7-75CA18108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0FFE12-E9C6-AEF5-7AD5-DE7AE6D57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2558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E87C20-E860-636E-D209-B87F4533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36" y="19082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5E24C5-71F0-575B-CF9F-F8E092B9FA72}"/>
              </a:ext>
            </a:extLst>
          </p:cNvPr>
          <p:cNvSpPr txBox="1"/>
          <p:nvPr/>
        </p:nvSpPr>
        <p:spPr>
          <a:xfrm>
            <a:off x="1264888" y="305875"/>
            <a:ext cx="8947748" cy="7425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Module 2- Synchronized Visualization matrix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36D6409-7C63-0C23-BB0A-75288A6B84B3}"/>
              </a:ext>
            </a:extLst>
          </p:cNvPr>
          <p:cNvSpPr/>
          <p:nvPr/>
        </p:nvSpPr>
        <p:spPr>
          <a:xfrm>
            <a:off x="501445" y="1818291"/>
            <a:ext cx="6390968" cy="4385864"/>
          </a:xfrm>
          <a:prstGeom prst="roundRect">
            <a:avLst>
              <a:gd name="adj" fmla="val 949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3FC21-E7D8-A6DF-3D1E-BC587750255E}"/>
              </a:ext>
            </a:extLst>
          </p:cNvPr>
          <p:cNvSpPr txBox="1"/>
          <p:nvPr/>
        </p:nvSpPr>
        <p:spPr>
          <a:xfrm>
            <a:off x="1025267" y="2132012"/>
            <a:ext cx="55203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processed data into </a:t>
            </a:r>
            <a:r>
              <a:rPr lang="en-US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 dashboards</a:t>
            </a:r>
            <a:endParaRPr lang="en-US" sz="2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multiple charts such as 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 charts, line graphs, pie charts, and heatmaps</a:t>
            </a:r>
            <a:endParaRPr 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Synchronizes all visualizations so filtering one chart 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updates all others automatically</a:t>
            </a:r>
            <a:endParaRPr 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apply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filters by department, date range, diagnosis, or outcome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updates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new data is uploaded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quickly identify 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patterns, trends, and anomalies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healthcare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F2F589-6D0D-CB17-4679-CC3223E84D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235" y="2235399"/>
            <a:ext cx="4116333" cy="281306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chemeClr val="accent2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125511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95510-D8FC-ACA2-8A4A-DCF60D0D1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410C8F-D582-408B-0921-F5136B3BF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2558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85F371-FE33-15FB-4F6C-32E73F95A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36" y="19082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EC8961-CFD0-6614-5B13-C42089F08889}"/>
              </a:ext>
            </a:extLst>
          </p:cNvPr>
          <p:cNvSpPr txBox="1"/>
          <p:nvPr/>
        </p:nvSpPr>
        <p:spPr>
          <a:xfrm>
            <a:off x="1256211" y="398206"/>
            <a:ext cx="8947748" cy="7425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Module 3 - Performance Metrics &amp; Comparison</a:t>
            </a:r>
            <a:endParaRPr lang="en-GB" sz="3200" dirty="0">
              <a:solidFill>
                <a:srgbClr val="FF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94B1EA3-2063-4EC5-C0E1-F3C12ED1D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779" y="1615108"/>
            <a:ext cx="11393214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Calculates key healthcare KPIs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mortality rate, readmission rate, bed occupancy, and average length of stay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Compares performance across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departments, time periods, or hospitals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Visualizes comparisons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side-by-side charts and KPI cards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high-risk areas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underperforming departments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Assists administrators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 optimization and policy planning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evaluation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hospital efficiency and patient outcomes</a:t>
            </a:r>
          </a:p>
        </p:txBody>
      </p:sp>
    </p:spTree>
    <p:extLst>
      <p:ext uri="{BB962C8B-B14F-4D97-AF65-F5344CB8AC3E}">
        <p14:creationId xmlns:p14="http://schemas.microsoft.com/office/powerpoint/2010/main" val="1177800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17F47-D07D-1C11-3910-FBA57DB49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A15EE9-4FB4-F9C2-1E95-FAE4E0E1C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2558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260DCC-7295-578E-953A-D252BCB01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36" y="19082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D0BFAA-5542-06E6-D797-2DEB5A091DE1}"/>
              </a:ext>
            </a:extLst>
          </p:cNvPr>
          <p:cNvSpPr txBox="1"/>
          <p:nvPr/>
        </p:nvSpPr>
        <p:spPr>
          <a:xfrm>
            <a:off x="1264888" y="305875"/>
            <a:ext cx="8947748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>
                <a:solidFill>
                  <a:srgbClr val="FF0000"/>
                </a:solidFill>
                <a:latin typeface="Times New Roman"/>
                <a:cs typeface="Times New Roman"/>
              </a:rPr>
              <a:t>Implementation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0C128-70E9-D852-6A2F-A7EB711ADE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48" y="1643361"/>
            <a:ext cx="5367646" cy="20007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C0DA41-A364-5048-750C-D2148663AF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901" y="1643362"/>
            <a:ext cx="5367646" cy="20007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2652E0-E4FD-2E6E-3ECA-6FE8129065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976" y="3644088"/>
            <a:ext cx="6957849" cy="24973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99908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05217-F6FD-F591-A143-F0BB4AF0C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ECD26D-FE42-C33E-3CDB-424BAF2CF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6689" y="2558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602ED1-16D2-2E62-F31A-450616B2F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36" y="19082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E90501-0673-7993-E5F7-A392E105D276}"/>
              </a:ext>
            </a:extLst>
          </p:cNvPr>
          <p:cNvSpPr txBox="1"/>
          <p:nvPr/>
        </p:nvSpPr>
        <p:spPr>
          <a:xfrm>
            <a:off x="1264888" y="305875"/>
            <a:ext cx="8947748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>
                <a:solidFill>
                  <a:srgbClr val="FF0000"/>
                </a:solidFill>
                <a:latin typeface="Times New Roman"/>
                <a:cs typeface="Times New Roman"/>
              </a:rPr>
              <a:t>Conclusion</a:t>
            </a:r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CB72872-20A9-B56F-3FEC-D7A4C0418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950" y="2226438"/>
            <a:ext cx="1074775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Medical Data Transformation &amp; Dynamic Visualization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converts raw healthcare data into meaningful insights.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 Handling Engine ensures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accurate, clean, and standardized data processing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Synchronized Visualization Matrix enables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real-time, interactive analysis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healthcare trends.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&amp; Comparison module supports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effective evaluation of hospital efficiency and patient outcomes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promotes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decision-making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modern healthcare environments.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 can enhance healthcare management and improve patient care quality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9927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FE849-34BD-85A1-871D-353C84CE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EE2623-A3C7-DF8C-13D2-D86C6DA23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2558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64F18E-E54C-A46D-8501-9BC44079D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36" y="19082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D174D9-9BE0-7EE2-E31E-4C1D43E2CF6D}"/>
              </a:ext>
            </a:extLst>
          </p:cNvPr>
          <p:cNvSpPr txBox="1"/>
          <p:nvPr/>
        </p:nvSpPr>
        <p:spPr>
          <a:xfrm>
            <a:off x="1264888" y="305875"/>
            <a:ext cx="8947748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446B420-209A-ADAB-9D25-447565DF8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23" y="1997839"/>
            <a:ext cx="1061544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models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predict patient outcomes such as mortality risk and readmission probability.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data integration from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medical devices and wearable sensors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continuous patient monitoring.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Expansion to support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multi-hospital and regional healthcare data comparison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AI-driven anomaly detection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unusual patient patterns and medical risks early.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security and privacy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encryption and role-based access control.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of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mobile-friendly dashboard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doctors and administrators to access insights anytime.</a:t>
            </a:r>
          </a:p>
        </p:txBody>
      </p:sp>
    </p:spTree>
    <p:extLst>
      <p:ext uri="{BB962C8B-B14F-4D97-AF65-F5344CB8AC3E}">
        <p14:creationId xmlns:p14="http://schemas.microsoft.com/office/powerpoint/2010/main" val="3216201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D64DA-E063-C7EB-A8D4-18709F54A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BF6D08-705A-8D4A-37CB-717FE7814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2558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85B54E-B1CD-7170-E075-6DD689310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36" y="19082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06A3876-A0E5-A3FC-9D99-43D5F5FF36BC}"/>
              </a:ext>
            </a:extLst>
          </p:cNvPr>
          <p:cNvSpPr txBox="1"/>
          <p:nvPr/>
        </p:nvSpPr>
        <p:spPr>
          <a:xfrm>
            <a:off x="1264888" y="305875"/>
            <a:ext cx="8947748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>
                <a:solidFill>
                  <a:srgbClr val="FF0000"/>
                </a:solidFill>
                <a:latin typeface="Times New Roman"/>
                <a:cs typeface="Times New Roman"/>
              </a:rPr>
              <a:t>References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9F8FBD-C9D7-7D68-D9B5-C968A19FEAFA}"/>
              </a:ext>
            </a:extLst>
          </p:cNvPr>
          <p:cNvSpPr txBox="1"/>
          <p:nvPr/>
        </p:nvSpPr>
        <p:spPr>
          <a:xfrm>
            <a:off x="547171" y="1362107"/>
            <a:ext cx="11097658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World Health Organization, Health Information Systems and Data Analytics. Geneva, Switzerland: WHO Press, 2021.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J. Han, M. Kamber, and J. Pei, Data Mining: Concepts and Techniques, 3rd ed. Waltham, MA, USA: Morgan Kaufmann, 2012.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Inc., “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JavaScript Open Source Graphing Library,”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Documentation, 2023. [Online]. Available: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https://plotly.com/javascript/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Python Software Foundation, “Python Documentation,” 2023. [Online]. Available: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https://docs.python.org/3/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A.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Rajkomar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Dean, and I.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Kohane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“Machine learning in medicine,” New England Journal of Medicine, vol. 380, no. 14, pp. 1347–1358, 2019.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Healthcare Information and Management Systems Society (HIMSS), Healthcare Analytics and Data Management, HIMSS Publications, 2022.</a:t>
            </a:r>
          </a:p>
        </p:txBody>
      </p:sp>
    </p:spTree>
    <p:extLst>
      <p:ext uri="{BB962C8B-B14F-4D97-AF65-F5344CB8AC3E}">
        <p14:creationId xmlns:p14="http://schemas.microsoft.com/office/powerpoint/2010/main" val="1853160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at Thank You Slide Template for PowerPoint">
            <a:extLst>
              <a:ext uri="{FF2B5EF4-FFF2-40B4-BE49-F238E27FC236}">
                <a16:creationId xmlns:a16="http://schemas.microsoft.com/office/drawing/2014/main" id="{1319B9DF-3FA4-D9E1-8F6D-15629AF80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859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1250</Words>
  <Application>Microsoft Office PowerPoint</Application>
  <PresentationFormat>Widescreen</PresentationFormat>
  <Paragraphs>117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Wingdings</vt:lpstr>
      <vt:lpstr>Office Theme</vt:lpstr>
      <vt:lpstr>Healthcare: Interactive Medical Data Transformation &amp; Dynamic Visualization System DSA0613-Data Handling and Data Visualization for Data Analytics  </vt:lpstr>
      <vt:lpstr>Agenda</vt:lpstr>
      <vt:lpstr>Introduction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SHANNU KARANAM</dc:creator>
  <cp:lastModifiedBy>karthiklingutla123@outlook.com</cp:lastModifiedBy>
  <cp:revision>4</cp:revision>
  <dcterms:created xsi:type="dcterms:W3CDTF">2026-01-08T06:10:05Z</dcterms:created>
  <dcterms:modified xsi:type="dcterms:W3CDTF">2026-02-03T04:34:03Z</dcterms:modified>
</cp:coreProperties>
</file>